
<file path=[Content_Types].xml><?xml version="1.0" encoding="utf-8"?>
<Types xmlns="http://schemas.openxmlformats.org/package/2006/content-types">
  <Default Extension="xml" ContentType="application/vnd.openxmlformats-package.core-properties+xml"/>
  <Default Extension="bin" ContentType="image/webp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cdd56933e2f4ebb" /><Relationship Type="http://schemas.openxmlformats.org/officeDocument/2006/relationships/extended-properties" Target="/docProps/app.xml" Id="R31728c0a5ecc4af0" /><Relationship Type="http://schemas.openxmlformats.org/officeDocument/2006/relationships/officeDocument" Target="/ppt/presentation.xml" Id="Rbfe207ca71304e8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81287a27eed4d33"/>
  </p:sldMasterIdLst>
  <p:notesMasterIdLst>
    <p:notesMasterId xmlns:r="http://schemas.openxmlformats.org/officeDocument/2006/relationships" r:id="R8f6b2cc910b1448f"/>
  </p:notesMasterIdLst>
  <p:sldIdLst>
    <p:sldId xmlns:r="http://schemas.openxmlformats.org/officeDocument/2006/relationships" id="256" r:id="Re9fd66022af440b9"/>
    <p:sldId xmlns:r="http://schemas.openxmlformats.org/officeDocument/2006/relationships" id="257" r:id="R7f82d19b23b84bda"/>
    <p:sldId xmlns:r="http://schemas.openxmlformats.org/officeDocument/2006/relationships" id="258" r:id="R72889748dd414a60"/>
    <p:sldId xmlns:r="http://schemas.openxmlformats.org/officeDocument/2006/relationships" id="259" r:id="R023b7ee6ddef421a"/>
    <p:sldId xmlns:r="http://schemas.openxmlformats.org/officeDocument/2006/relationships" id="260" r:id="R4dcf0a3a93644a36"/>
    <p:sldId xmlns:r="http://schemas.openxmlformats.org/officeDocument/2006/relationships" id="261" r:id="Rad6001816e824e6d"/>
    <p:sldId xmlns:r="http://schemas.openxmlformats.org/officeDocument/2006/relationships" id="262" r:id="R72a6f30c35054d9c"/>
    <p:sldId xmlns:r="http://schemas.openxmlformats.org/officeDocument/2006/relationships" id="263" r:id="Ra888d953bae647d8"/>
    <p:sldId xmlns:r="http://schemas.openxmlformats.org/officeDocument/2006/relationships" id="264" r:id="R3de146e010974f0e"/>
    <p:sldId xmlns:r="http://schemas.openxmlformats.org/officeDocument/2006/relationships" id="265" r:id="R41980ea820804fa8"/>
    <p:sldId xmlns:r="http://schemas.openxmlformats.org/officeDocument/2006/relationships" id="266" r:id="Rebc840c06d244002"/>
    <p:sldId xmlns:r="http://schemas.openxmlformats.org/officeDocument/2006/relationships" id="267" r:id="R03321da3b90f4916"/>
    <p:sldId xmlns:r="http://schemas.openxmlformats.org/officeDocument/2006/relationships" id="268" r:id="Rf7f3593dc5d440ee"/>
    <p:sldId xmlns:r="http://schemas.openxmlformats.org/officeDocument/2006/relationships" id="269" r:id="R6e2aeb3a3e3c4d0c"/>
    <p:sldId xmlns:r="http://schemas.openxmlformats.org/officeDocument/2006/relationships" id="270" r:id="Rb7d6bfa219bc4ec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46ab0c0f0084186" /><Relationship Type="http://schemas.openxmlformats.org/officeDocument/2006/relationships/slideMaster" Target="/ppt/slideMasters/slideMaster1.xml" Id="R081287a27eed4d33" /><Relationship Type="http://schemas.openxmlformats.org/officeDocument/2006/relationships/notesMaster" Target="/ppt/notesMasters/notesMaster1.xml" Id="R8f6b2cc910b1448f" /><Relationship Type="http://schemas.openxmlformats.org/officeDocument/2006/relationships/presProps" Target="/ppt/presProps.xml" Id="R19485bdf9ab84d1c" /><Relationship Type="http://schemas.openxmlformats.org/officeDocument/2006/relationships/tableStyles" Target="/ppt/tableStyles.xml" Id="Re49b04a391824bda" /><Relationship Type="http://schemas.openxmlformats.org/officeDocument/2006/relationships/slide" Target="/ppt/slides/slide1.xml" Id="Re9fd66022af440b9" /><Relationship Type="http://schemas.openxmlformats.org/officeDocument/2006/relationships/slide" Target="/ppt/slides/slide2.xml" Id="R7f82d19b23b84bda" /><Relationship Type="http://schemas.openxmlformats.org/officeDocument/2006/relationships/slide" Target="/ppt/slides/slide3.xml" Id="R72889748dd414a60" /><Relationship Type="http://schemas.openxmlformats.org/officeDocument/2006/relationships/slide" Target="/ppt/slides/slide4.xml" Id="R023b7ee6ddef421a" /><Relationship Type="http://schemas.openxmlformats.org/officeDocument/2006/relationships/slide" Target="/ppt/slides/slide5.xml" Id="R4dcf0a3a93644a36" /><Relationship Type="http://schemas.openxmlformats.org/officeDocument/2006/relationships/slide" Target="/ppt/slides/slide6.xml" Id="Rad6001816e824e6d" /><Relationship Type="http://schemas.openxmlformats.org/officeDocument/2006/relationships/slide" Target="/ppt/slides/slide7.xml" Id="R72a6f30c35054d9c" /><Relationship Type="http://schemas.openxmlformats.org/officeDocument/2006/relationships/slide" Target="/ppt/slides/slide8.xml" Id="Ra888d953bae647d8" /><Relationship Type="http://schemas.openxmlformats.org/officeDocument/2006/relationships/slide" Target="/ppt/slides/slide9.xml" Id="R3de146e010974f0e" /><Relationship Type="http://schemas.openxmlformats.org/officeDocument/2006/relationships/slide" Target="/ppt/slides/slide10.xml" Id="R41980ea820804fa8" /><Relationship Type="http://schemas.openxmlformats.org/officeDocument/2006/relationships/slide" Target="/ppt/slides/slide11.xml" Id="Rebc840c06d244002" /><Relationship Type="http://schemas.openxmlformats.org/officeDocument/2006/relationships/slide" Target="/ppt/slides/slide12.xml" Id="R03321da3b90f4916" /><Relationship Type="http://schemas.openxmlformats.org/officeDocument/2006/relationships/slide" Target="/ppt/slides/slide13.xml" Id="Rf7f3593dc5d440ee" /><Relationship Type="http://schemas.openxmlformats.org/officeDocument/2006/relationships/slide" Target="/ppt/slides/slide14.xml" Id="R6e2aeb3a3e3c4d0c" /><Relationship Type="http://schemas.openxmlformats.org/officeDocument/2006/relationships/slide" Target="/ppt/slides/slide15.xml" Id="Rb7d6bfa219bc4ec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3eaf51dbe2f46b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d1654a7ff1e48c0" /><Relationship Type="http://schemas.openxmlformats.org/officeDocument/2006/relationships/notesMaster" Target="/ppt/notesMasters/notesMaster1.xml" Id="R777b15f2b03341e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4267fa79a454806" /><Relationship Type="http://schemas.openxmlformats.org/officeDocument/2006/relationships/notesMaster" Target="/ppt/notesMasters/notesMaster1.xml" Id="R05cfcacd7250492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f23ca2b166f4d77" /><Relationship Type="http://schemas.openxmlformats.org/officeDocument/2006/relationships/notesMaster" Target="/ppt/notesMasters/notesMaster1.xml" Id="R476ae715febe40a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9ada8916602431f" /><Relationship Type="http://schemas.openxmlformats.org/officeDocument/2006/relationships/notesMaster" Target="/ppt/notesMasters/notesMaster1.xml" Id="R0ad9e4db1410434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8465ac25f394f2e" /><Relationship Type="http://schemas.openxmlformats.org/officeDocument/2006/relationships/notesMaster" Target="/ppt/notesMasters/notesMaster1.xml" Id="Ra5abc035864c42a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829e5a9442e4e1d" /><Relationship Type="http://schemas.openxmlformats.org/officeDocument/2006/relationships/notesMaster" Target="/ppt/notesMasters/notesMaster1.xml" Id="Ree93967bcbe44db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cdf1e6980424a2d" /><Relationship Type="http://schemas.openxmlformats.org/officeDocument/2006/relationships/notesMaster" Target="/ppt/notesMasters/notesMaster1.xml" Id="Rb0a4a06155e34e5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f8822913749425c" /><Relationship Type="http://schemas.openxmlformats.org/officeDocument/2006/relationships/notesMaster" Target="/ppt/notesMasters/notesMaster1.xml" Id="R91d378016fa94c6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9fa3c3dc7f343c3" /><Relationship Type="http://schemas.openxmlformats.org/officeDocument/2006/relationships/notesMaster" Target="/ppt/notesMasters/notesMaster1.xml" Id="Ra270ee43d9e84ed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0c095870c1442bc" /><Relationship Type="http://schemas.openxmlformats.org/officeDocument/2006/relationships/notesMaster" Target="/ppt/notesMasters/notesMaster1.xml" Id="R393294b4ea39407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274cd3feedc42cd" /><Relationship Type="http://schemas.openxmlformats.org/officeDocument/2006/relationships/notesMaster" Target="/ppt/notesMasters/notesMaster1.xml" Id="Rad36b84b594c450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2a99b0b06b843d5" /><Relationship Type="http://schemas.openxmlformats.org/officeDocument/2006/relationships/notesMaster" Target="/ppt/notesMasters/notesMaster1.xml" Id="Rdb02d35f44604a2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c34b23604dd460f" /><Relationship Type="http://schemas.openxmlformats.org/officeDocument/2006/relationships/notesMaster" Target="/ppt/notesMasters/notesMaster1.xml" Id="R0abd160f99734bc8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c0a2490f23347ec" /><Relationship Type="http://schemas.openxmlformats.org/officeDocument/2006/relationships/notesMaster" Target="/ppt/notesMasters/notesMaster1.xml" Id="R344de6c3d1254a1e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2736bdca076a4708" /><Relationship Type="http://schemas.openxmlformats.org/officeDocument/2006/relationships/notesMaster" Target="/ppt/notesMasters/notesMaster1.xml" Id="R686706ce7ca54e0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bf0891bf7a04c4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1d8ed2ce09f4f2e" /><Relationship Type="http://schemas.openxmlformats.org/officeDocument/2006/relationships/slideLayout" Target="/ppt/slideLayouts/slideLayout1.xml" Id="Rb8839f3eb0ab4dc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8839f3eb0ab4dc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ccd8855c454162" /><Relationship Type="http://schemas.openxmlformats.org/officeDocument/2006/relationships/image" Target="/ppt/media/image.bin" Id="R84177c4dfb7f4216" /><Relationship Type="http://schemas.openxmlformats.org/officeDocument/2006/relationships/notesSlide" Target="/ppt/notesSlides/notesSlide1.xml" Id="Rb43c053421704f1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d80fede6814aa2" /><Relationship Type="http://schemas.openxmlformats.org/officeDocument/2006/relationships/notesSlide" Target="/ppt/notesSlides/notesSlide2.xml" Id="Rcbf51252c6254a3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4077c76f0644a9" /><Relationship Type="http://schemas.openxmlformats.org/officeDocument/2006/relationships/notesSlide" Target="/ppt/notesSlides/notesSlide3.xml" Id="R0bebd7d0058b43f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e579a2110e478c" /><Relationship Type="http://schemas.openxmlformats.org/officeDocument/2006/relationships/notesSlide" Target="/ppt/notesSlides/notesSlide4.xml" Id="R5c6f04993eb8438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52fc715ab94846" /><Relationship Type="http://schemas.openxmlformats.org/officeDocument/2006/relationships/notesSlide" Target="/ppt/notesSlides/notesSlide5.xml" Id="Raf4a3c3f51314c6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3ab7616dba4112" /><Relationship Type="http://schemas.openxmlformats.org/officeDocument/2006/relationships/notesSlide" Target="/ppt/notesSlides/notesSlide6.xml" Id="Rd65aee48fda248b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dd39cddadc426b" /><Relationship Type="http://schemas.openxmlformats.org/officeDocument/2006/relationships/notesSlide" Target="/ppt/notesSlides/notesSlide7.xml" Id="Rfa07936314a24f5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a3f61fd5fc4915" /><Relationship Type="http://schemas.openxmlformats.org/officeDocument/2006/relationships/notesSlide" Target="/ppt/notesSlides/notesSlide8.xml" Id="R48ce702c6e1b44a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fa38f6aa3c4d00" /><Relationship Type="http://schemas.openxmlformats.org/officeDocument/2006/relationships/notesSlide" Target="/ppt/notesSlides/notesSlide9.xml" Id="R5bf7ab0d2a6e496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ebe39d40ef43ca" /><Relationship Type="http://schemas.openxmlformats.org/officeDocument/2006/relationships/notesSlide" Target="/ppt/notesSlides/notesSlide10.xml" Id="Rb9328faefe874ce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7909ebc8dc4ef2" /><Relationship Type="http://schemas.openxmlformats.org/officeDocument/2006/relationships/notesSlide" Target="/ppt/notesSlides/notesSlide11.xml" Id="R0e5fd9a41ebb43c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a670cf5b864036" /><Relationship Type="http://schemas.openxmlformats.org/officeDocument/2006/relationships/notesSlide" Target="/ppt/notesSlides/notesSlide12.xml" Id="Rb62aa910c368483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451c6364304000" /><Relationship Type="http://schemas.openxmlformats.org/officeDocument/2006/relationships/notesSlide" Target="/ppt/notesSlides/notesSlide13.xml" Id="Rbc914aa242fa4cc6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aa794df8d94579" /><Relationship Type="http://schemas.openxmlformats.org/officeDocument/2006/relationships/notesSlide" Target="/ppt/notesSlides/notesSlide14.xml" Id="R74592df8ceaf4634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fd04796e7c4e7d" /><Relationship Type="http://schemas.openxmlformats.org/officeDocument/2006/relationships/notesSlide" Target="/ppt/notesSlides/notesSlide15.xml" Id="R269c43defab545c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C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805503-9F89-44A6-B2A6-30571236E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57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6C0C4E-5212-4BBD-833C-BF483E784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8580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6657E8"/>
                </a:solidFill>
              </a:defRPr>
            </a:pPr>
            <a:r>
              <a:rPr sz="1350" b="1">
                <a:solidFill>
                  <a:srgbClr val="6657E8"/>
                </a:solidFill>
              </a:rPr>
              <a:t>프런트엔드 · 입문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6704E6-20C0-4DE2-8809-6FA598FD9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14450"/>
            <a:ext cx="54292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82235"/>
                </a:solidFill>
              </a:defRPr>
            </a:pPr>
            <a:r>
              <a:rPr sz="3900" b="1">
                <a:solidFill>
                  <a:srgbClr val="182235"/>
                </a:solidFill>
              </a:rPr>
              <a:t>React 컴포넌트 이해하기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0F9A4B-6D72-4204-8DC5-D7230A840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38500"/>
            <a:ext cx="5143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657083"/>
                </a:solidFill>
              </a:defRPr>
            </a:pPr>
            <a:r>
              <a:rPr sz="1800">
                <a:solidFill>
                  <a:srgbClr val="657083"/>
                </a:solidFill>
              </a:rPr>
              <a:t>화면을 반복해서 쓸 수 있는 작은 부품으로 나눕니다.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D079BA-24F2-4CD6-90F2-A01E21964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10125"/>
            <a:ext cx="22669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6657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CDB938-BBE8-4061-97C2-4C1EC9D3C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24425"/>
            <a:ext cx="2266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약 30분 학습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177c4dfb7f4216"/>
          <a:srcRect xmlns:a="http://schemas.openxmlformats.org/drawingml/2006/main" l="17949" t="0" r="1794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67500" y="857250"/>
            <a:ext cx="4762500" cy="4953000"/>
          </a:xfrm>
          <a:prstGeom xmlns:a="http://schemas.openxmlformats.org/drawingml/2006/main" prst="roundRect">
            <a:avLst>
              <a:gd name="adj" fmla="val 3200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B252EC-EA82-48DE-B696-712049738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219825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57083"/>
                </a:solidFill>
              </a:defRPr>
            </a:pPr>
            <a:r>
              <a:rPr sz="1125">
                <a:solidFill>
                  <a:srgbClr val="657083"/>
                </a:solidFill>
              </a:rPr>
              <a:t>EDU 웹개발 교육 플랫폼</a:t>
            </a:r>
          </a:p>
        </p:txBody>
      </p:sp>
    </p:spTree>
    <p:extLst>
      <p:ext uri="{BB962C8B-B14F-4D97-AF65-F5344CB8AC3E}">
        <p14:creationId xmlns:p14="http://schemas.microsoft.com/office/powerpoint/2010/main" val="111105571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C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FB207D-1284-40E4-87D9-26BAE77AD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57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838CB2-92C8-45AF-BE63-0881C0214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82235"/>
                </a:solidFill>
              </a:defRPr>
            </a:pPr>
            <a:r>
              <a:rPr sz="2700" b="1">
                <a:solidFill>
                  <a:srgbClr val="182235"/>
                </a:solidFill>
              </a:rPr>
              <a:t>오늘은 이것을 할 수 있게 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8245C6-AB80-4C65-96FC-73EB42675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1009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57083"/>
                </a:solidFill>
              </a:defRPr>
            </a:pPr>
            <a:r>
              <a:rPr sz="975">
                <a:solidFill>
                  <a:srgbClr val="657083"/>
                </a:solidFill>
              </a:rPr>
              <a:t>EDU 웹개발 교육 플랫폼  ·  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FE6786-DA53-4AF8-9A54-748381DC8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71625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EEA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69CFA0-3797-4A22-AB1F-E6EE3C4B2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66875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6657E8"/>
                </a:solidFill>
              </a:defRPr>
            </a:pPr>
            <a:r>
              <a:rPr sz="1500" b="1">
                <a:solidFill>
                  <a:srgbClr val="6657E8"/>
                </a:solidFill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A0A281-7EEC-4BC8-82C9-EF626B85F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609725"/>
            <a:ext cx="923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82235"/>
                </a:solidFill>
              </a:defRPr>
            </a:pPr>
            <a:r>
              <a:rPr sz="1800">
                <a:solidFill>
                  <a:srgbClr val="182235"/>
                </a:solidFill>
              </a:rPr>
              <a:t>컴포넌트를 이해합니다.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B4AE8D-C480-4D62-A6F7-977610AB3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43175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AF8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7423B0-E4BA-497E-AC17-E011DFF18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38425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6657E8"/>
                </a:solidFill>
              </a:defRPr>
            </a:pPr>
            <a:r>
              <a:rPr sz="1500" b="1">
                <a:solidFill>
                  <a:srgbClr val="6657E8"/>
                </a:solidFill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2DC7C2-92EB-4528-AA5C-B336A64B2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581275"/>
            <a:ext cx="923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82235"/>
                </a:solidFill>
              </a:defRPr>
            </a:pPr>
            <a:r>
              <a:rPr sz="1800">
                <a:solidFill>
                  <a:srgbClr val="182235"/>
                </a:solidFill>
              </a:rPr>
              <a:t>props로 제목과 설명을 전달합니다.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3852BD-7E60-4AA7-8811-D87728135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686300"/>
            <a:ext cx="31432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7DA82C-09E4-4DD1-B185-D9AC3B063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4895850"/>
            <a:ext cx="25527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A8493B"/>
                </a:solidFill>
              </a:defRPr>
            </a:pPr>
            <a:r>
              <a:rPr sz="1500" b="1">
                <a:solidFill>
                  <a:srgbClr val="A8493B"/>
                </a:solidFill>
              </a:rPr>
              <a:t>외우기보다 직접 실행하고</a:t>
            </a:r>
          </a:p>
          <a:p xmlns:a="http://schemas.openxmlformats.org/drawingml/2006/main">
            <a:pPr algn="ctr">
              <a:defRPr sz="1500" b="1">
                <a:solidFill>
                  <a:srgbClr val="A8493B"/>
                </a:solidFill>
              </a:defRPr>
            </a:pPr>
            <a:r>
              <a:rPr sz="1500" b="1">
                <a:solidFill>
                  <a:srgbClr val="A8493B"/>
                </a:solidFill>
              </a:rPr>
              <a:t>바뀐 결과를 확인하세요.</a:t>
            </a:r>
          </a:p>
        </p:txBody>
      </p:sp>
    </p:spTree>
    <p:extLst>
      <p:ext uri="{BB962C8B-B14F-4D97-AF65-F5344CB8AC3E}">
        <p14:creationId xmlns:p14="http://schemas.microsoft.com/office/powerpoint/2010/main" val="177794595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C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A80033-A7EB-4684-AAFB-938850B1C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57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031EF2-FD9D-487D-8998-E88CE5F68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82235"/>
                </a:solidFill>
              </a:defRPr>
            </a:pPr>
            <a:r>
              <a:rPr sz="2700" b="1">
                <a:solidFill>
                  <a:srgbClr val="182235"/>
                </a:solidFill>
              </a:rPr>
              <a:t>생활 속 비유로 먼저 이해해요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5D7341-8F70-4F68-B94D-D53BD3E3B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1009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57083"/>
                </a:solidFill>
              </a:defRPr>
            </a:pPr>
            <a:r>
              <a:rPr sz="975">
                <a:solidFill>
                  <a:srgbClr val="657083"/>
                </a:solidFill>
              </a:rPr>
              <a:t>EDU 웹개발 교육 플랫폼  ·  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250AE3-FDA0-4B9D-8347-679F8E502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3333750"/>
          </a:xfrm>
          <a:prstGeom xmlns:a="http://schemas.openxmlformats.org/drawingml/2006/main" prst="roundRect">
            <a:avLst>
              <a:gd name="adj" fmla="val 3429"/>
            </a:avLst>
          </a:prstGeom>
          <a:solidFill xmlns:a="http://schemas.openxmlformats.org/drawingml/2006/main">
            <a:srgbClr val="EEEA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11B145-F686-47C6-AE69-442C2B12B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52625"/>
            <a:ext cx="99060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82235"/>
                </a:solidFill>
              </a:defRPr>
            </a:pPr>
            <a:r>
              <a:rPr sz="2100">
                <a:solidFill>
                  <a:srgbClr val="182235"/>
                </a:solidFill>
              </a:rPr>
              <a:t>컴포넌트는 레고 블록처럼 다시 사용하는 화면 부품입니다. 카드 하나를 만들고 자료만 바꾸면 여러 카드를 표시할 수 있습니다.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D6FF65-9D6F-41BE-819E-D9B6E8FD7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1970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6657E8"/>
                </a:solidFill>
              </a:defRPr>
            </a:pPr>
            <a:r>
              <a:rPr sz="1500" b="1">
                <a:solidFill>
                  <a:srgbClr val="6657E8"/>
                </a:solidFill>
              </a:rPr>
              <a:t>한 문장으로 말해보기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D03EE8-5AA3-4DBF-ACDA-232A6353F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5162550"/>
            <a:ext cx="7143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182235"/>
                </a:solidFill>
              </a:defRPr>
            </a:pPr>
            <a:r>
              <a:rPr sz="1650">
                <a:solidFill>
                  <a:srgbClr val="182235"/>
                </a:solidFill>
              </a:rPr>
              <a:t>컴포넌트를 이해합니다.</a:t>
            </a:r>
          </a:p>
        </p:txBody>
      </p:sp>
    </p:spTree>
    <p:extLst>
      <p:ext uri="{BB962C8B-B14F-4D97-AF65-F5344CB8AC3E}">
        <p14:creationId xmlns:p14="http://schemas.microsoft.com/office/powerpoint/2010/main" val="49343652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C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DF737A3-AA66-4B8B-8CFC-C83AF5D8D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57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56A5E8-9548-4198-B473-49B8B156C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82235"/>
                </a:solidFill>
              </a:defRPr>
            </a:pPr>
            <a:r>
              <a:rPr sz="2700" b="1">
                <a:solidFill>
                  <a:srgbClr val="182235"/>
                </a:solidFill>
              </a:rPr>
              <a:t>작동 순서는 네 단계면 충분합니다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172732-8B9D-413F-B4CF-30E9832A7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1009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57083"/>
                </a:solidFill>
              </a:defRPr>
            </a:pPr>
            <a:r>
              <a:rPr sz="975">
                <a:solidFill>
                  <a:srgbClr val="657083"/>
                </a:solidFill>
              </a:rPr>
              <a:t>EDU 웹개발 교육 플랫폼  ·  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CCD556-0B73-47FE-9E5F-9BE3DF679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66850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EEA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298473-EA9B-4876-A5B0-FE9F50EB3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62100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6657E8"/>
                </a:solidFill>
              </a:defRPr>
            </a:pPr>
            <a:r>
              <a:rPr sz="1500" b="1">
                <a:solidFill>
                  <a:srgbClr val="6657E8"/>
                </a:solidFill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6896C3-8A57-414C-9E7B-6014345F2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504950"/>
            <a:ext cx="923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82235"/>
                </a:solidFill>
              </a:defRPr>
            </a:pPr>
            <a:r>
              <a:rPr sz="1800">
                <a:solidFill>
                  <a:srgbClr val="182235"/>
                </a:solidFill>
              </a:rPr>
              <a:t>카드 함수를 만듭니다.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C21941-8F77-45B3-BBF6-75907657A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38400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AF8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24A379-CAB4-465D-9AD8-F140A209C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33650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6657E8"/>
                </a:solidFill>
              </a:defRPr>
            </a:pPr>
            <a:r>
              <a:rPr sz="1500" b="1">
                <a:solidFill>
                  <a:srgbClr val="6657E8"/>
                </a:solidFill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77E778-15BD-46F8-B174-6C09975C9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476500"/>
            <a:ext cx="923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82235"/>
                </a:solidFill>
              </a:defRPr>
            </a:pPr>
            <a:r>
              <a:rPr sz="1800">
                <a:solidFill>
                  <a:srgbClr val="182235"/>
                </a:solidFill>
              </a:rPr>
              <a:t>제목과 설명을 받습니다.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398348-8B9E-419C-B7AF-4A5F531F6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09950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EEA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BEEE6C-BDB8-47DE-8214-6AB6AA49B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05200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6657E8"/>
                </a:solidFill>
              </a:defRPr>
            </a:pPr>
            <a:r>
              <a:rPr sz="1500" b="1">
                <a:solidFill>
                  <a:srgbClr val="6657E8"/>
                </a:solidFill>
              </a:rPr>
              <a:t>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E634A7-F201-4BFC-B6B2-477DB9F58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448050"/>
            <a:ext cx="923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82235"/>
                </a:solidFill>
              </a:defRPr>
            </a:pPr>
            <a:r>
              <a:rPr sz="1800">
                <a:solidFill>
                  <a:srgbClr val="182235"/>
                </a:solidFill>
              </a:rPr>
              <a:t>카드를 두 번 표시합니다.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C4B038F-3611-496F-86B7-0D1D37FEB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81500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AF8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B666B7E-78CB-4DFC-957E-D44C22D23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76750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6657E8"/>
                </a:solidFill>
              </a:defRPr>
            </a:pPr>
            <a:r>
              <a:rPr sz="1500" b="1">
                <a:solidFill>
                  <a:srgbClr val="6657E8"/>
                </a:solidFill>
              </a:rPr>
              <a:t>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2DA8EA6-DA40-4F71-82D7-79FC0A329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419600"/>
            <a:ext cx="923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82235"/>
                </a:solidFill>
              </a:defRPr>
            </a:pPr>
            <a:r>
              <a:rPr sz="1800">
                <a:solidFill>
                  <a:srgbClr val="182235"/>
                </a:solidFill>
              </a:rPr>
              <a:t>문구를 다르게 바꿉니다.</a:t>
            </a:r>
          </a:p>
        </p:txBody>
      </p:sp>
    </p:spTree>
    <p:extLst>
      <p:ext uri="{BB962C8B-B14F-4D97-AF65-F5344CB8AC3E}">
        <p14:creationId xmlns:p14="http://schemas.microsoft.com/office/powerpoint/2010/main" val="379466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C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75F3BB-9AF2-486E-9C32-856D246D8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57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9653FA-FFE1-405A-822F-6ABF17823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82235"/>
                </a:solidFill>
              </a:defRPr>
            </a:pPr>
            <a:r>
              <a:rPr sz="2700" b="1">
                <a:solidFill>
                  <a:srgbClr val="182235"/>
                </a:solidFill>
              </a:rPr>
              <a:t>예제 코드를 한 줄씩 살펴보세요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E7AEA5-1F82-495D-BA33-A2181DCC0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1009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57083"/>
                </a:solidFill>
              </a:defRPr>
            </a:pPr>
            <a:r>
              <a:rPr sz="975">
                <a:solidFill>
                  <a:srgbClr val="657083"/>
                </a:solidFill>
              </a:rPr>
              <a:t>EDU 웹개발 교육 플랫폼  ·  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A23CC0-0CE0-4D4C-8569-198A2B7F7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14450"/>
            <a:ext cx="10820400" cy="4095750"/>
          </a:xfrm>
          <a:prstGeom xmlns:a="http://schemas.openxmlformats.org/drawingml/2006/main" prst="roundRect">
            <a:avLst>
              <a:gd name="adj" fmla="val 2791"/>
            </a:avLst>
          </a:prstGeom>
          <a:solidFill xmlns:a="http://schemas.openxmlformats.org/drawingml/2006/main">
            <a:srgbClr val="F4F6FA"/>
          </a:solidFill>
          <a:ln xmlns:a="http://schemas.openxmlformats.org/drawingml/2006/main" w="9525">
            <a:solidFill>
              <a:srgbClr val="E4E7F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4651A9-869D-425E-AB8C-F6AA4221D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5430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6657E8"/>
                </a:solidFill>
              </a:defRPr>
            </a:pPr>
            <a:r>
              <a:rPr sz="1275" b="1">
                <a:solidFill>
                  <a:srgbClr val="6657E8"/>
                </a:solidFill>
              </a:rPr>
              <a:t>React JSX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6F6EE0-7332-4F2E-9523-806BFD95A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047875"/>
            <a:ext cx="1013460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24304A"/>
                </a:solidFill>
              </a:defRPr>
            </a:pPr>
            <a:r>
              <a:rPr sz="1425">
                <a:solidFill>
                  <a:srgbClr val="24304A"/>
                </a:solidFill>
              </a:rPr>
              <a:t>function LessonCard({ title, description }) {</a:t>
            </a:r>
          </a:p>
          <a:p xmlns:a="http://schemas.openxmlformats.org/drawingml/2006/main">
            <a:pPr>
              <a:defRPr sz="1425">
                <a:solidFill>
                  <a:srgbClr val="24304A"/>
                </a:solidFill>
              </a:defRPr>
            </a:pPr>
            <a:r>
              <a:rPr sz="1425">
                <a:solidFill>
                  <a:srgbClr val="24304A"/>
                </a:solidFill>
              </a:rPr>
              <a:t>  return &lt;article&gt;&lt;h2&gt;{title}&lt;/h2&gt;&lt;p&gt;{description}&lt;/p&gt;&lt;/article&gt;</a:t>
            </a:r>
          </a:p>
          <a:p xmlns:a="http://schemas.openxmlformats.org/drawingml/2006/main">
            <a:pPr>
              <a:defRPr sz="1425">
                <a:solidFill>
                  <a:srgbClr val="24304A"/>
                </a:solidFill>
              </a:defRPr>
            </a:pPr>
            <a:r>
              <a:rPr sz="1425">
                <a:solidFill>
                  <a:srgbClr val="24304A"/>
                </a:solidFill>
              </a:rPr>
              <a:t>}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295DFD-6F8E-409B-A1E5-E72F37152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73405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657083"/>
                </a:solidFill>
              </a:defRPr>
            </a:pPr>
            <a:r>
              <a:rPr sz="1425">
                <a:solidFill>
                  <a:srgbClr val="657083"/>
                </a:solidFill>
              </a:rPr>
              <a:t>처음에는 그대로 실행하고, 문장이나 숫자 하나만 바꿔 보세요.</a:t>
            </a:r>
          </a:p>
        </p:txBody>
      </p:sp>
    </p:spTree>
    <p:extLst>
      <p:ext uri="{BB962C8B-B14F-4D97-AF65-F5344CB8AC3E}">
        <p14:creationId xmlns:p14="http://schemas.microsoft.com/office/powerpoint/2010/main" val="199484770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C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ADB1509-F852-4E5F-89CC-ABFACCA27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57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14F1A5-1BC9-4191-ADA1-E92AC1389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82235"/>
                </a:solidFill>
              </a:defRPr>
            </a:pPr>
            <a:r>
              <a:rPr sz="2700" b="1">
                <a:solidFill>
                  <a:srgbClr val="182235"/>
                </a:solidFill>
              </a:rPr>
              <a:t>10분 실습은 작은 성공을 만드는 시간입니다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B52247-2308-4EA4-9196-989A7C06F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1009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57083"/>
                </a:solidFill>
              </a:defRPr>
            </a:pPr>
            <a:r>
              <a:rPr sz="975">
                <a:solidFill>
                  <a:srgbClr val="657083"/>
                </a:solidFill>
              </a:rPr>
              <a:t>EDU 웹개발 교육 플랫폼  ·  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D06E14-6830-49FF-8889-379193D2F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09700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EEA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520A54-1140-46DA-9497-922CDFEA8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04950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57C7A5"/>
                </a:solidFill>
              </a:defRPr>
            </a:pPr>
            <a:r>
              <a:rPr sz="1500" b="1">
                <a:solidFill>
                  <a:srgbClr val="57C7A5"/>
                </a:solidFill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08E1F5-9ED3-4B87-8E8C-E832593F1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447800"/>
            <a:ext cx="923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82235"/>
                </a:solidFill>
              </a:defRPr>
            </a:pPr>
            <a:r>
              <a:rPr sz="1800">
                <a:solidFill>
                  <a:srgbClr val="182235"/>
                </a:solidFill>
              </a:rPr>
              <a:t>카드 함수를 만듭니다.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AD0630-E692-4DC3-83E1-BAA307104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81250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AF8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914B45-E88B-4122-8D8F-9428D4FB3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76500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57C7A5"/>
                </a:solidFill>
              </a:defRPr>
            </a:pPr>
            <a:r>
              <a:rPr sz="1500" b="1">
                <a:solidFill>
                  <a:srgbClr val="57C7A5"/>
                </a:solidFill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72EBB3-C434-481E-B4FE-8EEC8AE15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419350"/>
            <a:ext cx="923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82235"/>
                </a:solidFill>
              </a:defRPr>
            </a:pPr>
            <a:r>
              <a:rPr sz="1800">
                <a:solidFill>
                  <a:srgbClr val="182235"/>
                </a:solidFill>
              </a:rPr>
              <a:t>제목과 설명을 받습니다.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3B2731-D9D2-4ED0-80E3-18C9FF2E2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52800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EEA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345D2E-108A-43B1-BA96-312796498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48050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57C7A5"/>
                </a:solidFill>
              </a:defRPr>
            </a:pPr>
            <a:r>
              <a:rPr sz="1500" b="1">
                <a:solidFill>
                  <a:srgbClr val="57C7A5"/>
                </a:solidFill>
              </a:rPr>
              <a:t>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F9F27D-9BD1-4ED0-AF0B-ABE7F4CD2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390900"/>
            <a:ext cx="923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82235"/>
                </a:solidFill>
              </a:defRPr>
            </a:pPr>
            <a:r>
              <a:rPr sz="1800">
                <a:solidFill>
                  <a:srgbClr val="182235"/>
                </a:solidFill>
              </a:rPr>
              <a:t>카드를 두 번 표시합니다.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A88F7A-626B-4DE4-8270-DB6049AC0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24350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AF8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0EA5E7-EAC7-4CF1-ADBC-A855A7157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19600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57C7A5"/>
                </a:solidFill>
              </a:defRPr>
            </a:pPr>
            <a:r>
              <a:rPr sz="1500" b="1">
                <a:solidFill>
                  <a:srgbClr val="57C7A5"/>
                </a:solidFill>
              </a:rPr>
              <a:t>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1B68FFC-F916-4287-B333-74A9D4B51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362450"/>
            <a:ext cx="923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82235"/>
                </a:solidFill>
              </a:defRPr>
            </a:pPr>
            <a:r>
              <a:rPr sz="1800">
                <a:solidFill>
                  <a:srgbClr val="182235"/>
                </a:solidFill>
              </a:rPr>
              <a:t>문구를 다르게 바꿉니다.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2691199-C9FF-412D-A635-699335D4B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5295900"/>
            <a:ext cx="3333750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57C7A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D69E625-DE28-4B36-B19F-1E9F33532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5457825"/>
            <a:ext cx="295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완료: 화면에서 결과 확인</a:t>
            </a:r>
          </a:p>
        </p:txBody>
      </p:sp>
    </p:spTree>
    <p:extLst>
      <p:ext uri="{BB962C8B-B14F-4D97-AF65-F5344CB8AC3E}">
        <p14:creationId xmlns:p14="http://schemas.microsoft.com/office/powerpoint/2010/main" val="61722051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C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823B8F-1489-4DCA-948E-67AF5009C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57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C122AF-AC38-4623-B79B-8F6C7B4F4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82235"/>
                </a:solidFill>
              </a:defRPr>
            </a:pPr>
            <a:r>
              <a:rPr sz="2700" b="1">
                <a:solidFill>
                  <a:srgbClr val="182235"/>
                </a:solidFill>
              </a:rPr>
              <a:t>Codex에는 이렇게 요청하세요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586CDC-9F90-4008-815C-D853F7A25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1009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57083"/>
                </a:solidFill>
              </a:defRPr>
            </a:pPr>
            <a:r>
              <a:rPr sz="975">
                <a:solidFill>
                  <a:srgbClr val="657083"/>
                </a:solidFill>
              </a:rPr>
              <a:t>EDU 웹개발 교육 플랫폼  ·  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BD68BB-4D48-43F9-89A7-1AE8ECF6D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EEEA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ACB9C5-3EEE-47C1-92E3-7C7549696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952625"/>
            <a:ext cx="99441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403A84"/>
                </a:solidFill>
              </a:defRPr>
            </a:pPr>
            <a:r>
              <a:rPr sz="2025" b="1">
                <a:solidFill>
                  <a:srgbClr val="403A84"/>
                </a:solidFill>
              </a:rPr>
              <a:t>“제목과 설명을 받는 초보자용 React 교육자료 카드를 만들어줘.”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34394B-D759-4C77-999B-2D4DB5D40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09587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6657E8"/>
                </a:solidFill>
              </a:defRPr>
            </a:pPr>
            <a:r>
              <a:rPr sz="1500" b="1">
                <a:solidFill>
                  <a:srgbClr val="6657E8"/>
                </a:solidFill>
              </a:rPr>
              <a:t>좋은 요청의 세 가지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8665DA-68F8-4EDE-8A3A-8051B21B0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057775"/>
            <a:ext cx="7429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182235"/>
                </a:solidFill>
              </a:defRPr>
            </a:pPr>
            <a:r>
              <a:rPr sz="1650">
                <a:solidFill>
                  <a:srgbClr val="182235"/>
                </a:solidFill>
              </a:rPr>
              <a:t>① 바꿀 대상  ② 유지할 기능  ③ 확인 방법</a:t>
            </a:r>
          </a:p>
        </p:txBody>
      </p:sp>
    </p:spTree>
    <p:extLst>
      <p:ext uri="{BB962C8B-B14F-4D97-AF65-F5344CB8AC3E}">
        <p14:creationId xmlns:p14="http://schemas.microsoft.com/office/powerpoint/2010/main" val="195028922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C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FE8C41-6BB8-48B9-8049-493BD72F2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57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724B99-AC92-48FE-AADA-994648F1F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82235"/>
                </a:solidFill>
              </a:defRPr>
            </a:pPr>
            <a:r>
              <a:rPr sz="2700" b="1">
                <a:solidFill>
                  <a:srgbClr val="182235"/>
                </a:solidFill>
              </a:rPr>
              <a:t>직접 확인하면 오늘 학습이 완성됩니다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B1F016-CBA3-417B-80A2-99FE3EEE2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1009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57083"/>
                </a:solidFill>
              </a:defRPr>
            </a:pPr>
            <a:r>
              <a:rPr sz="975">
                <a:solidFill>
                  <a:srgbClr val="657083"/>
                </a:solidFill>
              </a:rPr>
              <a:t>EDU 웹개발 교육 플랫폼  ·  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5E20F1-AFDC-44A6-8039-6A09A2EBE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76375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EEA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874BAF-3FFD-4A2E-BF94-5DA5C6DF8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71625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7B6B"/>
                </a:solidFill>
              </a:defRPr>
            </a:pPr>
            <a:r>
              <a:rPr sz="1500" b="1">
                <a:solidFill>
                  <a:srgbClr val="FF7B6B"/>
                </a:solidFill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2C9BC2-1A35-49C6-84E8-12D4467F3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514475"/>
            <a:ext cx="923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82235"/>
                </a:solidFill>
              </a:defRPr>
            </a:pPr>
            <a:r>
              <a:rPr sz="1800">
                <a:solidFill>
                  <a:srgbClr val="182235"/>
                </a:solidFill>
              </a:rPr>
              <a:t>같은 카드를 반복했나요?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E4A35C-1880-4D4A-875F-A6C0F0A1D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47925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AF8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59A0A8-41CE-4CC7-BEAF-9985F72B7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43175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7B6B"/>
                </a:solidFill>
              </a:defRPr>
            </a:pPr>
            <a:r>
              <a:rPr sz="1500" b="1">
                <a:solidFill>
                  <a:srgbClr val="FF7B6B"/>
                </a:solidFill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D8047B-9D86-4E06-B574-2FFF99E92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486025"/>
            <a:ext cx="923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82235"/>
                </a:solidFill>
              </a:defRPr>
            </a:pPr>
            <a:r>
              <a:rPr sz="1800">
                <a:solidFill>
                  <a:srgbClr val="182235"/>
                </a:solidFill>
              </a:rPr>
              <a:t>서로 다른 제목이 보이나요?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C30F13-7D7C-43B9-8546-68480F33A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0"/>
            <a:ext cx="10820400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AF8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A07486-AB6A-40F2-8F34-3D218D2CB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0673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26755F"/>
                </a:solidFill>
              </a:defRPr>
            </a:pPr>
            <a:r>
              <a:rPr sz="1425" b="1">
                <a:solidFill>
                  <a:srgbClr val="26755F"/>
                </a:solidFill>
              </a:rPr>
              <a:t>관련 교육 프로그램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7B70A4-5BD5-477C-9449-10C38BA99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500062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82235"/>
                </a:solidFill>
              </a:defRPr>
            </a:pPr>
            <a:r>
              <a:rPr sz="1875" b="1">
                <a:solidFill>
                  <a:srgbClr val="182235"/>
                </a:solidFill>
              </a:rPr>
              <a:t>React 웹사이트 만들기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B45068-996B-4C85-95C2-FE5F8A614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505450"/>
            <a:ext cx="9525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57083"/>
                </a:solidFill>
              </a:defRPr>
            </a:pPr>
            <a:r>
              <a:rPr sz="1275">
                <a:solidFill>
                  <a:srgbClr val="657083"/>
                </a:solidFill>
              </a:rPr>
              <a:t>홈페이지에서 학습 완료를 표시하고 다음 자료로 이어가세요.</a:t>
            </a:r>
          </a:p>
        </p:txBody>
      </p:sp>
    </p:spTree>
    <p:extLst>
      <p:ext uri="{BB962C8B-B14F-4D97-AF65-F5344CB8AC3E}">
        <p14:creationId xmlns:p14="http://schemas.microsoft.com/office/powerpoint/2010/main" val="143361409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C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8A9387-673F-4250-943D-B7CCD61A3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57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F22635-9040-41DE-86BB-0FA5BD733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82235"/>
                </a:solidFill>
              </a:defRPr>
            </a:pPr>
            <a:r>
              <a:rPr sz="2700" b="1">
                <a:solidFill>
                  <a:srgbClr val="182235"/>
                </a:solidFill>
              </a:rPr>
              <a:t>왜 배우는지 알면 실습 방향이 보입니다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BF65C6-F986-4E32-BA07-CD8D97831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1009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57083"/>
                </a:solidFill>
              </a:defRPr>
            </a:pPr>
            <a:r>
              <a:rPr sz="975">
                <a:solidFill>
                  <a:srgbClr val="657083"/>
                </a:solidFill>
              </a:rPr>
              <a:t>EDU 웹개발 교육 플랫폼  ·  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097AC8-1618-45A1-A64A-12D7FCD4C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EEEA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B71113-A78C-41EB-9E37-7C522B19E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62125"/>
            <a:ext cx="100584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182235"/>
                </a:solidFill>
              </a:defRPr>
            </a:pPr>
            <a:r>
              <a:rPr sz="1875">
                <a:solidFill>
                  <a:srgbClr val="182235"/>
                </a:solidFill>
              </a:rPr>
              <a:t>화면을 작은 부품으로 나누면 같은 디자인을 반복해서 만들지 않아도 되고, 수정할 곳도 쉽게 찾을 수 있습니다.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4D6A66-EA92-4983-A969-9975DC66B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147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6657E8"/>
                </a:solidFill>
              </a:defRPr>
            </a:pPr>
            <a:r>
              <a:rPr sz="1575" b="1">
                <a:solidFill>
                  <a:srgbClr val="6657E8"/>
                </a:solidFill>
              </a:rPr>
              <a:t>오늘 완성할 결과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CBB870-F98B-4DDF-B948-3225D92EC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91000"/>
            <a:ext cx="1009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82235"/>
                </a:solidFill>
              </a:defRPr>
            </a:pPr>
            <a:r>
              <a:rPr sz="2025" b="1">
                <a:solidFill>
                  <a:srgbClr val="182235"/>
                </a:solidFill>
              </a:rPr>
              <a:t>제목과 설명이 서로 다른 교육자료 카드 세 개를 하나의 컴포넌트로 표시합니다.</a:t>
            </a:r>
          </a:p>
        </p:txBody>
      </p:sp>
    </p:spTree>
    <p:extLst>
      <p:ext uri="{BB962C8B-B14F-4D97-AF65-F5344CB8AC3E}">
        <p14:creationId xmlns:p14="http://schemas.microsoft.com/office/powerpoint/2010/main" val="197729143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C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8C31EF1-F123-4383-993B-9202CB286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57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FBB793-A5A7-4428-A8B7-67EE291B5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82235"/>
                </a:solidFill>
              </a:defRPr>
            </a:pPr>
            <a:r>
              <a:rPr sz="2700" b="1">
                <a:solidFill>
                  <a:srgbClr val="182235"/>
                </a:solidFill>
              </a:rPr>
              <a:t>준비가 끝나면 실습이 훨씬 편해집니다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D2384B-4AB5-4AE7-9CD9-999B0CD5F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1009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57083"/>
                </a:solidFill>
              </a:defRPr>
            </a:pPr>
            <a:r>
              <a:rPr sz="975">
                <a:solidFill>
                  <a:srgbClr val="657083"/>
                </a:solidFill>
              </a:rPr>
              <a:t>EDU 웹개발 교육 플랫폼  ·  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560F96-50B9-4A4D-8471-ADFD36758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28750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EEA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F4B015-FC76-45EA-82FC-2DBC867A8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24000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57C7A5"/>
                </a:solidFill>
              </a:defRPr>
            </a:pPr>
            <a:r>
              <a:rPr sz="1500" b="1">
                <a:solidFill>
                  <a:srgbClr val="57C7A5"/>
                </a:solidFill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994CBE-322B-4439-AF1B-6B00B0554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466850"/>
            <a:ext cx="923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82235"/>
                </a:solidFill>
              </a:defRPr>
            </a:pPr>
            <a:r>
              <a:rPr sz="1800">
                <a:solidFill>
                  <a:srgbClr val="182235"/>
                </a:solidFill>
              </a:rPr>
              <a:t>Node.js와 npm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793B6C-B687-44AC-B870-DA4ADF6BA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00300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AF8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CB88C9-E0D7-482E-83B5-AA3B821E9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95550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57C7A5"/>
                </a:solidFill>
              </a:defRPr>
            </a:pPr>
            <a:r>
              <a:rPr sz="1500" b="1">
                <a:solidFill>
                  <a:srgbClr val="57C7A5"/>
                </a:solidFill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505D8C-9093-4DC1-A2BA-3335559F1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438400"/>
            <a:ext cx="923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82235"/>
                </a:solidFill>
              </a:defRPr>
            </a:pPr>
            <a:r>
              <a:rPr sz="1800">
                <a:solidFill>
                  <a:srgbClr val="182235"/>
                </a:solidFill>
              </a:rPr>
              <a:t>실행 가능한 React/Vite 프로젝트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DFDFA8-D837-48AD-8BAB-D31B7D298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71850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EEA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F15A37-9880-4700-AD31-045EC75A6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67100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57C7A5"/>
                </a:solidFill>
              </a:defRPr>
            </a:pPr>
            <a:r>
              <a:rPr sz="1500" b="1">
                <a:solidFill>
                  <a:srgbClr val="57C7A5"/>
                </a:solidFill>
              </a:rPr>
              <a:t>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20443B-D277-452B-A612-D7A5D2197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409950"/>
            <a:ext cx="923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82235"/>
                </a:solidFill>
              </a:defRPr>
            </a:pPr>
            <a:r>
              <a:rPr sz="1800">
                <a:solidFill>
                  <a:srgbClr val="182235"/>
                </a:solidFill>
              </a:rPr>
              <a:t>브라우저 개발자 도구</a:t>
            </a:r>
          </a:p>
        </p:txBody>
      </p:sp>
    </p:spTree>
    <p:extLst>
      <p:ext uri="{BB962C8B-B14F-4D97-AF65-F5344CB8AC3E}">
        <p14:creationId xmlns:p14="http://schemas.microsoft.com/office/powerpoint/2010/main" val="205895646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C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E0ACB8-7C21-4E74-AA40-B0057BE6A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57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68D5B4-078C-4DA5-A8EA-477CC3144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82235"/>
                </a:solidFill>
              </a:defRPr>
            </a:pPr>
            <a:r>
              <a:rPr sz="2700" b="1">
                <a:solidFill>
                  <a:srgbClr val="182235"/>
                </a:solidFill>
              </a:rPr>
              <a:t>코드의 역할을 하나씩 연결해 보세요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F0260A-AE4A-4693-8D36-7F9E748C6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1009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57083"/>
                </a:solidFill>
              </a:defRPr>
            </a:pPr>
            <a:r>
              <a:rPr sz="975">
                <a:solidFill>
                  <a:srgbClr val="657083"/>
                </a:solidFill>
              </a:rPr>
              <a:t>EDU 웹개발 교육 플랫폼  ·  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F276F0-2E94-4635-B65A-E3E0E6463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6657E8"/>
                </a:solidFill>
              </a:defRPr>
            </a:pPr>
            <a:r>
              <a:rPr sz="1725" b="1">
                <a:solidFill>
                  <a:srgbClr val="6657E8"/>
                </a:solidFill>
              </a:rPr>
              <a:t>function LessonCard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2D2F03-47E1-4764-9E43-F6CBB9B14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428750"/>
            <a:ext cx="7429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182235"/>
                </a:solidFill>
              </a:defRPr>
            </a:pPr>
            <a:r>
              <a:rPr sz="1650">
                <a:solidFill>
                  <a:srgbClr val="182235"/>
                </a:solidFill>
              </a:rPr>
              <a:t>반복해서 사용할 카드 부품을 선언합니다.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FA6B40-1391-4BBF-8646-C949D540B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2412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6657E8"/>
                </a:solidFill>
              </a:defRPr>
            </a:pPr>
            <a:r>
              <a:rPr sz="1725" b="1">
                <a:solidFill>
                  <a:srgbClr val="6657E8"/>
                </a:solidFill>
              </a:rPr>
              <a:t>props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8D2F24-5055-4D3A-8B02-CD51774A5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524125"/>
            <a:ext cx="7429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182235"/>
                </a:solidFill>
              </a:defRPr>
            </a:pPr>
            <a:r>
              <a:rPr sz="1650">
                <a:solidFill>
                  <a:srgbClr val="182235"/>
                </a:solidFill>
              </a:rPr>
              <a:t>부품마다 달라질 제목과 설명을 전달합니다.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13B07D-03DE-495A-80EA-3463DAB7B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1950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6657E8"/>
                </a:solidFill>
              </a:defRPr>
            </a:pPr>
            <a:r>
              <a:rPr sz="1725" b="1">
                <a:solidFill>
                  <a:srgbClr val="6657E8"/>
                </a:solidFill>
              </a:rPr>
              <a:t>return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E8BAB8-DBCE-448F-852E-A50BEB29C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619500"/>
            <a:ext cx="7429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182235"/>
                </a:solidFill>
              </a:defRPr>
            </a:pPr>
            <a:r>
              <a:rPr sz="1650">
                <a:solidFill>
                  <a:srgbClr val="182235"/>
                </a:solidFill>
              </a:rPr>
              <a:t>화면에 그릴 JSX 구조를 돌려줍니다.</a:t>
            </a:r>
          </a:p>
        </p:txBody>
      </p:sp>
    </p:spTree>
    <p:extLst>
      <p:ext uri="{BB962C8B-B14F-4D97-AF65-F5344CB8AC3E}">
        <p14:creationId xmlns:p14="http://schemas.microsoft.com/office/powerpoint/2010/main" val="180495610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C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05311D-655E-404F-9AED-5D9A90659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57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1CE480-E58C-4E8A-B478-1B6763030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82235"/>
                </a:solidFill>
              </a:defRPr>
            </a:pPr>
            <a:r>
              <a:rPr sz="2700" b="1">
                <a:solidFill>
                  <a:srgbClr val="182235"/>
                </a:solidFill>
              </a:rPr>
              <a:t>오류는 첫 문장부터 차례로 해결합니다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D5DCD5-6882-4B6F-87A4-C8A5E9681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1009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57083"/>
                </a:solidFill>
              </a:defRPr>
            </a:pPr>
            <a:r>
              <a:rPr sz="975">
                <a:solidFill>
                  <a:srgbClr val="657083"/>
                </a:solidFill>
              </a:rPr>
              <a:t>EDU 웹개발 교육 플랫폼  ·  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323EA5-DCD2-44DD-92B2-79904AEB6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33500"/>
            <a:ext cx="1074420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FF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2803FB-E1EB-47F6-9D26-5CFA2414E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6210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A8493B"/>
                </a:solidFill>
              </a:defRPr>
            </a:pPr>
            <a:r>
              <a:rPr sz="1650" b="1">
                <a:solidFill>
                  <a:srgbClr val="A8493B"/>
                </a:solidFill>
              </a:rPr>
              <a:t>화면이 백지예요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9D87E1-49B3-45F7-9A94-6332720F7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495425"/>
            <a:ext cx="6953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182235"/>
                </a:solidFill>
              </a:defRPr>
            </a:pPr>
            <a:r>
              <a:rPr sz="1575">
                <a:solidFill>
                  <a:srgbClr val="182235"/>
                </a:solidFill>
              </a:rPr>
              <a:t>터미널과 브라우저 콘솔의 첫 오류를 확인합니다.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794E03-53EF-4513-BDEC-4F62FE484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62250"/>
            <a:ext cx="1074420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EAF8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6F3E8A-9EB8-48BB-8521-FC6CE89FF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26755F"/>
                </a:solidFill>
              </a:defRPr>
            </a:pPr>
            <a:r>
              <a:rPr sz="1650" b="1">
                <a:solidFill>
                  <a:srgbClr val="26755F"/>
                </a:solidFill>
              </a:rPr>
              <a:t>카드 제목이 안 보여요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8696BE-31C5-45A0-BF33-955ED27B4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924175"/>
            <a:ext cx="6953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182235"/>
                </a:solidFill>
              </a:defRPr>
            </a:pPr>
            <a:r>
              <a:rPr sz="1575">
                <a:solidFill>
                  <a:srgbClr val="182235"/>
                </a:solidFill>
              </a:rPr>
              <a:t>props 이름과 전달한 속성 이름이 같은지 봅니다.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411237-6EE8-43EB-B2A9-A85D7D7DA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91000"/>
            <a:ext cx="1074420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FF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09D087-16C3-416D-9138-A28CABBDF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1960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A8493B"/>
                </a:solidFill>
              </a:defRPr>
            </a:pPr>
            <a:r>
              <a:rPr sz="1650" b="1">
                <a:solidFill>
                  <a:srgbClr val="A8493B"/>
                </a:solidFill>
              </a:rPr>
              <a:t>목록 경고가 나와요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FB862C-72BC-4186-8467-DFDF27D18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352925"/>
            <a:ext cx="6953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182235"/>
                </a:solidFill>
              </a:defRPr>
            </a:pPr>
            <a:r>
              <a:rPr sz="1575">
                <a:solidFill>
                  <a:srgbClr val="182235"/>
                </a:solidFill>
              </a:rPr>
              <a:t>map으로 반복할 때 고유한 key를 넣습니다.</a:t>
            </a:r>
          </a:p>
        </p:txBody>
      </p:sp>
    </p:spTree>
    <p:extLst>
      <p:ext uri="{BB962C8B-B14F-4D97-AF65-F5344CB8AC3E}">
        <p14:creationId xmlns:p14="http://schemas.microsoft.com/office/powerpoint/2010/main" val="119838839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C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A630CFC-9F99-428E-9620-503C00AA4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57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FA2E01-4EB9-4C7E-B7CB-2B048AB95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82235"/>
                </a:solidFill>
              </a:defRPr>
            </a:pPr>
            <a:r>
              <a:rPr sz="2700" b="1">
                <a:solidFill>
                  <a:srgbClr val="182235"/>
                </a:solidFill>
              </a:rPr>
              <a:t>상황에 맞는 Codex 요청문을 골라 쓰세요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A197FF-8944-4B86-A696-0F35AAE68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1009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57083"/>
                </a:solidFill>
              </a:defRPr>
            </a:pPr>
            <a:r>
              <a:rPr sz="975">
                <a:solidFill>
                  <a:srgbClr val="657083"/>
                </a:solidFill>
              </a:rPr>
              <a:t>EDU 웹개발 교육 플랫폼  ·  13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FB04BD-342D-4748-8DCF-865734B67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381125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EEA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008518-FE2E-4E72-9ED5-802C236D5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76375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6657E8"/>
                </a:solidFill>
              </a:defRPr>
            </a:pPr>
            <a:r>
              <a:rPr sz="1500" b="1">
                <a:solidFill>
                  <a:srgbClr val="6657E8"/>
                </a:solidFill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D06D58-AD0D-4EC9-90CB-F5C421417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419225"/>
            <a:ext cx="923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82235"/>
                </a:solidFill>
              </a:defRPr>
            </a:pPr>
            <a:r>
              <a:rPr sz="1800">
                <a:solidFill>
                  <a:srgbClr val="182235"/>
                </a:solidFill>
              </a:rPr>
              <a:t>현재 App.jsx를 컴포넌트 단위로 나눌 위치를 알려줘.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B799EB-EF40-4955-ABBD-4D421A0C4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52675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AF8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271142-6CB7-417E-AEA6-A8EA6678B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47925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6657E8"/>
                </a:solidFill>
              </a:defRPr>
            </a:pPr>
            <a:r>
              <a:rPr sz="1500" b="1">
                <a:solidFill>
                  <a:srgbClr val="6657E8"/>
                </a:solidFill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83E2BC-E35B-4E7C-AC8A-5CCFDFC0E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390775"/>
            <a:ext cx="923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82235"/>
                </a:solidFill>
              </a:defRPr>
            </a:pPr>
            <a:r>
              <a:rPr sz="1800">
                <a:solidFill>
                  <a:srgbClr val="182235"/>
                </a:solidFill>
              </a:rPr>
              <a:t>title과 description을 받는 LessonCard를 만들어줘.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0F4ABC-C293-49C3-A8F0-3429DF472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24225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EEA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ADAB24-7DFD-440D-8FAE-C86F69B95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19475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6657E8"/>
                </a:solidFill>
              </a:defRPr>
            </a:pPr>
            <a:r>
              <a:rPr sz="1500" b="1">
                <a:solidFill>
                  <a:srgbClr val="6657E8"/>
                </a:solidFill>
              </a:rPr>
              <a:t>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2B8933-E358-42B0-8EF5-3CFD22666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362325"/>
            <a:ext cx="923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82235"/>
                </a:solidFill>
              </a:defRPr>
            </a:pPr>
            <a:r>
              <a:rPr sz="1800">
                <a:solidFill>
                  <a:srgbClr val="182235"/>
                </a:solidFill>
              </a:rPr>
              <a:t>기존 디자인을 유지하면서 반복 코드를 컴포넌트로 정리해줘.</a:t>
            </a:r>
          </a:p>
        </p:txBody>
      </p:sp>
    </p:spTree>
    <p:extLst>
      <p:ext uri="{BB962C8B-B14F-4D97-AF65-F5344CB8AC3E}">
        <p14:creationId xmlns:p14="http://schemas.microsoft.com/office/powerpoint/2010/main" val="185822579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C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915296-578F-4C0E-945B-B33FA85C8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57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52A0F4-920C-4C56-B479-833284E8C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82235"/>
                </a:solidFill>
              </a:defRPr>
            </a:pPr>
            <a:r>
              <a:rPr sz="2700" b="1">
                <a:solidFill>
                  <a:srgbClr val="182235"/>
                </a:solidFill>
              </a:rPr>
              <a:t>작은 응용이 내 실력으로 바뀌는 순간입니다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6FA86B-0830-405F-A64A-8AF9CA528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1009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57083"/>
                </a:solidFill>
              </a:defRPr>
            </a:pPr>
            <a:r>
              <a:rPr sz="975">
                <a:solidFill>
                  <a:srgbClr val="657083"/>
                </a:solidFill>
              </a:rPr>
              <a:t>EDU 웹개발 교육 플랫폼  ·  14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E25451-410C-4550-9EA5-800ED591A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1082040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EAF8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940821-5C2E-403C-80EE-D0DA13CD7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076450"/>
            <a:ext cx="99441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82235"/>
                </a:solidFill>
              </a:defRPr>
            </a:pPr>
            <a:r>
              <a:rPr sz="2175" b="1">
                <a:solidFill>
                  <a:srgbClr val="182235"/>
                </a:solidFill>
              </a:rPr>
              <a:t>난이도 속성을 하나 더 받아 카드에 입문 또는 기초 표시를 추가하세요.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91CF84-62D0-49BF-9F2F-3AD4F3DA5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524375"/>
            <a:ext cx="952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657083"/>
                </a:solidFill>
              </a:defRPr>
            </a:pPr>
            <a:r>
              <a:rPr sz="1650">
                <a:solidFill>
                  <a:srgbClr val="657083"/>
                </a:solidFill>
              </a:rPr>
              <a:t>완성한 뒤 원래 결과와 무엇이 달라졌는지 한 문장으로 설명해 보세요.</a:t>
            </a:r>
          </a:p>
        </p:txBody>
      </p:sp>
    </p:spTree>
    <p:extLst>
      <p:ext uri="{BB962C8B-B14F-4D97-AF65-F5344CB8AC3E}">
        <p14:creationId xmlns:p14="http://schemas.microsoft.com/office/powerpoint/2010/main" val="123353542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C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0D6F47-6577-44E1-BC9C-28995FDC0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57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295ADF-691F-4016-B7A1-36F66E077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82235"/>
                </a:solidFill>
              </a:defRPr>
            </a:pPr>
            <a:r>
              <a:rPr sz="2700" b="1">
                <a:solidFill>
                  <a:srgbClr val="182235"/>
                </a:solidFill>
              </a:rPr>
              <a:t>다섯 문제로 오늘 배운 내용을 확인하세요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2B2ED3-DB4F-45A6-B6CD-BC1512038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1009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57083"/>
                </a:solidFill>
              </a:defRPr>
            </a:pPr>
            <a:r>
              <a:rPr sz="975">
                <a:solidFill>
                  <a:srgbClr val="657083"/>
                </a:solidFill>
              </a:rPr>
              <a:t>EDU 웹개발 교육 플랫폼  ·  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BCB313-7742-4826-BFDC-B5FE51290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285875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82235"/>
                </a:solidFill>
              </a:defRPr>
            </a:pPr>
            <a:r>
              <a:rPr sz="1650" b="0">
                <a:solidFill>
                  <a:srgbClr val="182235"/>
                </a:solidFill>
              </a:rPr>
              <a:t>1. 컴포넌트는 무엇과 비슷한가요?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1E042F-901B-44CF-BDC9-677A8ED87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62175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82235"/>
                </a:solidFill>
              </a:defRPr>
            </a:pPr>
            <a:r>
              <a:rPr sz="1650" b="0">
                <a:solidFill>
                  <a:srgbClr val="182235"/>
                </a:solidFill>
              </a:rPr>
              <a:t>2. props의 역할은?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2D7CAD-242A-4823-B868-96A58D714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038475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82235"/>
                </a:solidFill>
              </a:defRPr>
            </a:pPr>
            <a:r>
              <a:rPr sz="1650" b="0">
                <a:solidFill>
                  <a:srgbClr val="182235"/>
                </a:solidFill>
              </a:rPr>
              <a:t>3. 컴포넌트 이름 첫 글자는?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3DADE1-D272-4EDA-B4CC-F32E43443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914775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82235"/>
                </a:solidFill>
              </a:defRPr>
            </a:pPr>
            <a:r>
              <a:rPr sz="1650" b="0">
                <a:solidFill>
                  <a:srgbClr val="182235"/>
                </a:solidFill>
              </a:rPr>
              <a:t>4. 반복 목록의 key는 왜 필요한가요?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099664-AEFB-4BD6-A925-8C8B1D1D5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791075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82235"/>
                </a:solidFill>
              </a:defRPr>
            </a:pPr>
            <a:r>
              <a:rPr sz="1650" b="1">
                <a:solidFill>
                  <a:srgbClr val="182235"/>
                </a:solidFill>
              </a:rPr>
              <a:t>5. 완료 기준은?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699AC1-9002-47E2-8B00-16DB88350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857875"/>
            <a:ext cx="1000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6657E8"/>
                </a:solidFill>
              </a:defRPr>
            </a:pPr>
            <a:r>
              <a:rPr sz="1350" b="1">
                <a:solidFill>
                  <a:srgbClr val="6657E8"/>
                </a:solidFill>
              </a:rPr>
              <a:t>정답과 해설은 EDU 홈페이지 상세 자료에서 확인할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48550386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2026-08-26T01:36:30.2640000Z</dcterms:created>
  <dcterms:modified xsi:type="dcterms:W3CDTF">2026-08-26T01:36:30.2640000Z</dcterms:modified>
</coreProperties>
</file>